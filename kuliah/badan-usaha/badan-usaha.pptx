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Bryan membuka. Jangan perkenalan dulu — langsung ke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Aktivitas 1. Tanya dua kali: (1) mana yang milik negara, (2) mana yang pemiliknya bisa kehilangan rumah pribadi. Jangan dijawab.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 tiap kotak sambil ngomong. Sebutkan ada 3 aktivitas.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Anggota 2. Baca definisinya, lalu pecah tiga bagian.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bagian paling sering ketuker. Kasih jeda setelah judul.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konkret. Setelah ini cek paham lewat warung nasi — think-pair-share 20 detik.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Anggota 2. Tekankan nomor 1 — nanti diulang terus.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beda ekstraktif vs agraris — ini yang paling sering ketuker.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Cepat saja — ini yang paling intuitif.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PALING PENTING. Pelan-pelan. Jeda 3 detik setelah kalimat kuncinya.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 dulu kartu mana yang bikin kelompok berantem, baru tampilkan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Fokus ke dua kesalahan yang paling sering: CV dikira badan hukum, Kopma dikira bukan.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Anggota 3 mulai. Urutan: dari yang paling gampang bikinnya ke yang paling ribet.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Anggota 3. Bentuk paling sederhana. Tekankan tanggung jawab tidak terbatas.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Anggota 3. Poin tanggung renteng bikin kelas kaget — itu bagus, pelan-pelan di situ.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Anggota 3. Jangan lama di slide ini, inti CV ada di slide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 kolom kiri, lalu kolom kanan. Tutup dengan aturan 'kalau ikut campur, perlindungan hilang'.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Anggota 3. Jelaskan arti kata 'terbatas' — ini yang paling sering nggak dipahami.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Hampir pasti keluar ujian — bilang begitu ke kelas.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 ini dengan percaya diri. Buku 2014 masih tulis Rp50 juta.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paling relevan buat mahasiswa. Kasih penekanan.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Anggota 3. Kasih 30 detik diskusi berpasangan. Tunjuk DUA kelompok, jangan cuma satu.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Bryan mulai. Buka dengan: sampai sini yang punya modal terbesar paling berkuasa. Koperasi kebalikannya.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Bryan. Sebut Pasal 33 UUD 1945 dan koreksi 20 → 9 orang.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inti blok koperasi. Tunjukkan polanya: di koperasi pemilik = pengguna.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contoh Kopma UKSW — paling dekat dengan mereka.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Cara ingat: nama diawali 'PT ... (Persero)' = cari untung. Diawali 'Perum' = melayani publik.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Berita baru — ini bikin materi kerasa hidup, bukan hafalan buku.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Polanya persis sama dengan BUMN. Tunjukkan kesejajarannya.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Singkat saja. Contoh: yayasan yang menaungi kampus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dibiarkan nyala selama Aktivitas 3 — kelompok butuh referensinya.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Bryan. Tiga poin saja. Jangan tambah poin keempat.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Kasih 60 detik. Kalau pakai Mentimeter, baca 2-3 jawaban keras-keras. Jangan langsung duduk setelah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2437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881360" y="4754880"/>
            <a:ext cx="2377440" cy="2377440"/>
          </a:xfrm>
          <a:prstGeom prst="ellipse">
            <a:avLst/>
          </a:prstGeom>
          <a:solidFill>
            <a:srgbClr val="2B4C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60020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MANAJEMEN DAN BISNIS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011680"/>
            <a:ext cx="8778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Pengertian dan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Bentuk-Bentuk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Badan Usaha di Indonesia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89204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orang  ·  Universitas Kristen Satya Wacana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3492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8A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Rujukan: Solihin &amp; Sucipto (2014) · Brantas (2009) · Kotler (2003)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8A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diperbarui dengan UU Cipta Kerja, PP 8/2021 dan UU 1/2025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1 · ANGKAT TANGAN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Punya siapa usaha-usaha ini?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3401568" cy="1417320"/>
          </a:xfrm>
          <a:prstGeom prst="roundRect">
            <a:avLst>
              <a:gd name="adj" fmla="val 64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965960"/>
            <a:ext cx="30358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Indomaret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389120" y="1965960"/>
            <a:ext cx="3401568" cy="1417320"/>
          </a:xfrm>
          <a:prstGeom prst="roundRect">
            <a:avLst>
              <a:gd name="adj" fmla="val 64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72000" y="1965960"/>
            <a:ext cx="30358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 KAI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138160" y="1965960"/>
            <a:ext cx="3401568" cy="1417320"/>
          </a:xfrm>
          <a:prstGeom prst="roundRect">
            <a:avLst>
              <a:gd name="adj" fmla="val 64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321040" y="1965960"/>
            <a:ext cx="30358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Gojek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3712464"/>
            <a:ext cx="3401568" cy="1417320"/>
          </a:xfrm>
          <a:prstGeom prst="roundRect">
            <a:avLst>
              <a:gd name="adj" fmla="val 64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" y="3712464"/>
            <a:ext cx="30358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Warung nasi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depan kampus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389120" y="3712464"/>
            <a:ext cx="3401568" cy="1417320"/>
          </a:xfrm>
          <a:prstGeom prst="roundRect">
            <a:avLst>
              <a:gd name="adj" fmla="val 64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72000" y="3712464"/>
            <a:ext cx="30358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Kopma UKSW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138160" y="3712464"/>
            <a:ext cx="3401568" cy="1417320"/>
          </a:xfrm>
          <a:prstGeom prst="roundRect">
            <a:avLst>
              <a:gd name="adj" fmla="val 64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321040" y="3712464"/>
            <a:ext cx="30358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Perumda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Minum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salah satunya bangkrut dengan utang Rp3 miliar — pemiliknya bisa kehilangan rumah pribadi atau tidak?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kita bahas hari ini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401568" cy="274320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148840"/>
            <a:ext cx="457200" cy="45720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78892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badan usaha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520440"/>
            <a:ext cx="2761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Definisi, unsur, dan kenapa badan usaha berbeda dari perusahaan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401568" cy="274320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148840"/>
            <a:ext cx="457200" cy="45720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091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278892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Bentuk-bentuknya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3520440"/>
            <a:ext cx="2761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warung, CV, PT, koperasi, sampai BUMN dan BUMD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138160" y="1828800"/>
            <a:ext cx="3401568" cy="274320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58200" y="2148840"/>
            <a:ext cx="457200" cy="45720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458200" y="278892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memilihnya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458200" y="3520440"/>
            <a:ext cx="2761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— bagian ini kalian yang kerja, bukan kami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aktivitas  ·  95 menit  ·  di aktivitas terakhir kalian mendirikan usaha di atas kertas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1 · PENGERTIAN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badan usaha?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051560" y="1417320"/>
            <a:ext cx="100885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Kesatuan yuridis dan ekonomis yang menggunakan faktor-faktor produksi untuk mencari laba atau memberi layanan kepada masyarakat.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0080" y="3044952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07008" y="3017520"/>
            <a:ext cx="619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Kesatuan yuridis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207008" y="3328416"/>
            <a:ext cx="6198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identitas di mata hukum. Dia yang tanda tangan kontrak, punya NPWP, bayar pajak, dan bisa digugat.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4096512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07008" y="4069080"/>
            <a:ext cx="619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Kesatuan ekonomis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207008" y="4379976"/>
            <a:ext cx="6198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yang mengatur modal, tenaga kerja, dan sumber daya untuk menghasilkan nilai.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5148072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07008" y="5120640"/>
            <a:ext cx="619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produksi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07008" y="5431536"/>
            <a:ext cx="6198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 · tenaga kerja · modal · keahlian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841693" y="3017520"/>
            <a:ext cx="3709922" cy="274320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161733" y="3246120"/>
            <a:ext cx="30698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 badan usaha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161733" y="3657600"/>
            <a:ext cx="306984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Tenaga kerja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Organisasi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hukum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1 · PENGERTIAN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Badan usaha bukan perusahaan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5250028" cy="4160520"/>
          </a:xfrm>
          <a:prstGeom prst="roundRect">
            <a:avLst>
              <a:gd name="adj" fmla="val 219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005840" y="1737360"/>
            <a:ext cx="4518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 USAHA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103120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"Siapa"-nya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880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Sifatnya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2852928"/>
            <a:ext cx="3238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Kesatuan yuridis dan ekonomis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5387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Isinya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286000" y="3511296"/>
            <a:ext cx="3238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hukum, modal, organisasi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41970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Tujuannya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286000" y="4169664"/>
            <a:ext cx="3238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Mencari laba / memberi layanan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48554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Wujudnya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4828032"/>
            <a:ext cx="3238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Abstrak — ada di akta dan dokumen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301588" y="1463040"/>
            <a:ext cx="5250028" cy="4160520"/>
          </a:xfrm>
          <a:prstGeom prst="roundRect">
            <a:avLst>
              <a:gd name="adj" fmla="val 219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667348" y="1737360"/>
            <a:ext cx="4518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667348" y="2103120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4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"Di mana dan pakai apa"-nya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667348" y="2880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Sifatnya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947508" y="2852928"/>
            <a:ext cx="3238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Kesatuan teknis produksi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667348" y="35387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Isinya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47508" y="3511296"/>
            <a:ext cx="3238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Tempat, mesin, alat, gudang, pekerja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6667348" y="41970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Tujuannya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947508" y="4169664"/>
            <a:ext cx="3238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 barang dan jasa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6667348" y="48554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Wujudnya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947508" y="4828032"/>
            <a:ext cx="3238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Nyata — bisa didatangi dan dilihat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58521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9C6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Badan usaha itu "siapa"-nya. Perusahaan itu "di mana dan pakai apa"-nya.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1 · CONTOH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badan usaha, banyak perusahaan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749040" y="1554480"/>
            <a:ext cx="4663440" cy="100584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749040" y="1554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 Unilever Indonesia Tbk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2606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BADAN USAHA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60120" y="365760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60120" y="36576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Pabrik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Rungkut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34840" y="365760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34840" y="36576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Pabrik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Cikarang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909560" y="365760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909560" y="36576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Kantor pusat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Tangerang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120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PERUSAHAAN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membuat kontrak dan membayar pajak tetap satu: badan usahanya.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1 · KENAPA PENTING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bentuk badan usaha penting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10512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07008" y="1783080"/>
            <a:ext cx="10344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mana harta pribadi ikut menanggung kalau usaha rugi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207008" y="2093976"/>
            <a:ext cx="103446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yang paling nyata, dan ini yang akan kita ulang sepanjang sesi.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862072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207008" y="2834640"/>
            <a:ext cx="10344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mudah mencari modal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207008" y="3145536"/>
            <a:ext cx="103446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tidak akan masuk ke usaha perseorangan — tidak ada saham yang bisa dibeli.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913632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07008" y="3886200"/>
            <a:ext cx="10344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mahal dan ribet mendirikannya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207008" y="4197096"/>
            <a:ext cx="103446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gratis lewat OSS sampai akta notaris dan modal disetor.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965192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965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07008" y="4937760"/>
            <a:ext cx="10344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ikut proyek besar atau tidak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207008" y="5248656"/>
            <a:ext cx="103446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tender dan kerja sama korporat mensyaratkan berbadan hukum.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1 · KLASIFIKASI 1 DARI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Menurut lapangan usaha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10911535" cy="603504"/>
          </a:xfrm>
          <a:prstGeom prst="roundRect">
            <a:avLst>
              <a:gd name="adj" fmla="val 15152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60120" y="16459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Ekstraktif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154680" y="164592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langsung dari alam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1645920"/>
            <a:ext cx="37334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Tambang, menangkap ikan di laut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359152"/>
            <a:ext cx="10911535" cy="603504"/>
          </a:xfrm>
          <a:prstGeom prst="roundRect">
            <a:avLst>
              <a:gd name="adj" fmla="val 15152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960120" y="235915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Agraris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35915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Mengolah alam untuk menghasilkan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2359152"/>
            <a:ext cx="37334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Pertanian, perkebunan, peternakan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072384"/>
            <a:ext cx="10911535" cy="603504"/>
          </a:xfrm>
          <a:prstGeom prst="roundRect">
            <a:avLst>
              <a:gd name="adj" fmla="val 151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60120" y="307238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307238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bahan baku jadi barang jadi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3072384"/>
            <a:ext cx="37334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Pabrik semen, konveksi, pabrik makanan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3785616"/>
            <a:ext cx="10911535" cy="603504"/>
          </a:xfrm>
          <a:prstGeom prst="roundRect">
            <a:avLst>
              <a:gd name="adj" fmla="val 151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60120" y="378561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Perdagangan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78561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 lalu jual tanpa mengubah bentuk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3785616"/>
            <a:ext cx="37334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Indomaret, grosir, e-commerce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4498848"/>
            <a:ext cx="10911535" cy="603504"/>
          </a:xfrm>
          <a:prstGeom prst="roundRect">
            <a:avLst>
              <a:gd name="adj" fmla="val 151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60120" y="449884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44988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Menjual layanan, bukan barang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7498080" y="4498848"/>
            <a:ext cx="37334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Bank, rumah sakit, Gojek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Ekstraktif mengambil yang sudah ada di alam. Agraris menanam atau membudidayakan dulu, baru memanen.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1 · KLASIFIKASI 2 DARI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Menurut kepemilikan modal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1962851" cy="3657600"/>
          </a:xfrm>
          <a:prstGeom prst="roundRect">
            <a:avLst>
              <a:gd name="adj" fmla="val 46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224028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BUMN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15970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modalnya dari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15970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2336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Pertamina, PLN, KAI, BRI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77251" y="1783080"/>
            <a:ext cx="1962851" cy="3657600"/>
          </a:xfrm>
          <a:prstGeom prst="roundRect">
            <a:avLst>
              <a:gd name="adj" fmla="val 46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060131" y="224028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BUMD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060131" y="2926080"/>
            <a:ext cx="15970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modalnya dari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3060131" y="3200400"/>
            <a:ext cx="15970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daerah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060131" y="402336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Jateng, Perumda Air Minum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14422" y="1783080"/>
            <a:ext cx="1962851" cy="3657600"/>
          </a:xfrm>
          <a:prstGeom prst="roundRect">
            <a:avLst>
              <a:gd name="adj" fmla="val 46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297302" y="224028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BUMS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5297302" y="2926080"/>
            <a:ext cx="15970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modalnya dari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297302" y="3200400"/>
            <a:ext cx="15970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Swasta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297302" y="402336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Indofood, Djarum, warung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51593" y="1783080"/>
            <a:ext cx="1962851" cy="3657600"/>
          </a:xfrm>
          <a:prstGeom prst="roundRect">
            <a:avLst>
              <a:gd name="adj" fmla="val 46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534473" y="224028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Koperasi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534473" y="2926080"/>
            <a:ext cx="15970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modalnya dari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534473" y="3200400"/>
            <a:ext cx="15970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534473" y="402336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Kopma, KUD, koperasi karyawan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588764" y="1783080"/>
            <a:ext cx="1962851" cy="3657600"/>
          </a:xfrm>
          <a:prstGeom prst="roundRect">
            <a:avLst>
              <a:gd name="adj" fmla="val 46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9771644" y="2240280"/>
            <a:ext cx="1597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Campuran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771644" y="2926080"/>
            <a:ext cx="15970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modalnya dari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9771644" y="3200400"/>
            <a:ext cx="15970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Negara + swasta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771644" y="4023360"/>
            <a:ext cx="15970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BUMN yang sudah go public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1 · KLASIFIKASI 3 DARI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Berbadan hukum atau bukan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5250028" cy="3703320"/>
          </a:xfrm>
          <a:prstGeom prst="roundRect">
            <a:avLst>
              <a:gd name="adj" fmla="val 246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05840" y="1737360"/>
            <a:ext cx="4518508" cy="329184"/>
          </a:xfrm>
          <a:prstGeom prst="roundRect">
            <a:avLst>
              <a:gd name="adj" fmla="val 50000"/>
            </a:avLst>
          </a:prstGeom>
          <a:solidFill>
            <a:srgbClr val="2C7A5B"/>
          </a:solidFill>
          <a:ln w="12700">
            <a:solidFill>
              <a:srgbClr val="2C7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737360"/>
            <a:ext cx="4518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BERBADAN HUKUM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194560"/>
            <a:ext cx="45185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· PT Perorangan · Koperasi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Yayasan · Perum · Perumda · Perseroda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926080"/>
            <a:ext cx="4518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Harta usaha &amp; harta pribadi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163824"/>
            <a:ext cx="4518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Terpisah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639312"/>
            <a:ext cx="4518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usaha berutang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877056"/>
            <a:ext cx="4518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Ditagih ke perusahaan saja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4352544"/>
            <a:ext cx="4518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mata hukum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4590288"/>
            <a:ext cx="4518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 hukum sendiri, terpisah dari pemiliknya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301588" y="1463040"/>
            <a:ext cx="5250028" cy="3703320"/>
          </a:xfrm>
          <a:prstGeom prst="roundRect">
            <a:avLst>
              <a:gd name="adj" fmla="val 246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67348" y="1737360"/>
            <a:ext cx="4518508" cy="329184"/>
          </a:xfrm>
          <a:prstGeom prst="roundRect">
            <a:avLst>
              <a:gd name="adj" fmla="val 50000"/>
            </a:avLst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67348" y="1737360"/>
            <a:ext cx="4518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BADAN HUKUM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667348" y="2194560"/>
            <a:ext cx="45185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 perseorangan · Firma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· Persekutuan Perdata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667348" y="2926080"/>
            <a:ext cx="4518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Harta usaha &amp; harta pribadi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667348" y="3163824"/>
            <a:ext cx="4518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Menyatu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667348" y="3639312"/>
            <a:ext cx="4518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usaha berutang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667348" y="3877056"/>
            <a:ext cx="4518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ditagih sampai harta pribadi pemilik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667348" y="4352544"/>
            <a:ext cx="4518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mata hukum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667348" y="4590288"/>
            <a:ext cx="4518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Melekat pada orang-orangnya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534924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1051560" y="534924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Badan hukum artinya perusahaannya dianggap "orang" sendiri oleh hukum. Kalau dia bangkrut, yang bangkrut dia — bukan kamu. Kalau bukan badan hukum, yang bangkrut kamu.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2 · TAHAP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Kunci sortir — kepemilikan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393338" cy="3931920"/>
          </a:xfrm>
          <a:prstGeom prst="roundRect">
            <a:avLst>
              <a:gd name="adj" fmla="val 269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1965960"/>
            <a:ext cx="2753258" cy="329184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1965960"/>
            <a:ext cx="2753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MILIK NEGARA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514600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Pertamina (Persero)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971800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KAI (Persero)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429000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Perum BULOG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99178" y="1691640"/>
            <a:ext cx="3393338" cy="3931920"/>
          </a:xfrm>
          <a:prstGeom prst="roundRect">
            <a:avLst>
              <a:gd name="adj" fmla="val 269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19218" y="1965960"/>
            <a:ext cx="2753258" cy="329184"/>
          </a:xfrm>
          <a:prstGeom prst="roundRect">
            <a:avLst>
              <a:gd name="adj" fmla="val 50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19218" y="1965960"/>
            <a:ext cx="2753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MILIK DAERAH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719218" y="2514600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Perumda Air Minum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719218" y="2971800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Jateng (Perseroda)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158277" y="1691640"/>
            <a:ext cx="3393338" cy="3931920"/>
          </a:xfrm>
          <a:prstGeom prst="roundRect">
            <a:avLst>
              <a:gd name="adj" fmla="val 269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478317" y="1965960"/>
            <a:ext cx="2753258" cy="329184"/>
          </a:xfrm>
          <a:prstGeom prst="roundRect">
            <a:avLst>
              <a:gd name="adj" fmla="val 50000"/>
            </a:avLst>
          </a:prstGeom>
          <a:solidFill>
            <a:srgbClr val="9C6B22"/>
          </a:solidFill>
          <a:ln w="12700">
            <a:solidFill>
              <a:srgbClr val="9C6B2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78317" y="1965960"/>
            <a:ext cx="2753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MILIK SWASTA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478317" y="2514600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Indomaret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478317" y="2971800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Gojek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8478317" y="3429000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Warung Nasi Bu Sri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478317" y="3886200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Maju Jaya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478317" y="4343400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Santoso &amp; Rekan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8478317" y="4800600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Kopma UKSW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Kopma UKSW milik anggotanya — mahasiswa. Jadi masuk swasta, bukan milik negara atau kampus.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2 · TAHAP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Kunci sortir — badan hukum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250028" cy="3291840"/>
          </a:xfrm>
          <a:prstGeom prst="roundRect">
            <a:avLst>
              <a:gd name="adj" fmla="val 277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05840" y="1874520"/>
            <a:ext cx="4518508" cy="329184"/>
          </a:xfrm>
          <a:prstGeom prst="roundRect">
            <a:avLst>
              <a:gd name="adj" fmla="val 50000"/>
            </a:avLst>
          </a:prstGeom>
          <a:solidFill>
            <a:srgbClr val="2C7A5B"/>
          </a:solidFill>
          <a:ln w="12700">
            <a:solidFill>
              <a:srgbClr val="2C7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874520"/>
            <a:ext cx="4518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BERBADAN HUKUM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395728"/>
            <a:ext cx="4518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Pertamina (Persero)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734056"/>
            <a:ext cx="4518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KAI (Persero)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072384"/>
            <a:ext cx="4518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Perum BULOG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410712"/>
            <a:ext cx="4518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Perumda Air Minum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749040"/>
            <a:ext cx="4518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Jateng (Perseroda)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4087368"/>
            <a:ext cx="4518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Gojek (PT)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4425696"/>
            <a:ext cx="4518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Kopma UKSW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01588" y="1600200"/>
            <a:ext cx="5250028" cy="3291840"/>
          </a:xfrm>
          <a:prstGeom prst="roundRect">
            <a:avLst>
              <a:gd name="adj" fmla="val 277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67348" y="1874520"/>
            <a:ext cx="4518508" cy="329184"/>
          </a:xfrm>
          <a:prstGeom prst="roundRect">
            <a:avLst>
              <a:gd name="adj" fmla="val 50000"/>
            </a:avLst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67348" y="1874520"/>
            <a:ext cx="4518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BADAN HUKUM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667348" y="2395728"/>
            <a:ext cx="4518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Warung Nasi Bu Sri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667348" y="2734056"/>
            <a:ext cx="4518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Maju Jaya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667348" y="3072384"/>
            <a:ext cx="4518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Santoso &amp; Rekan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0080" y="5120640"/>
            <a:ext cx="10911535" cy="1051560"/>
          </a:xfrm>
          <a:prstGeom prst="roundRect">
            <a:avLst>
              <a:gd name="adj" fmla="val 8696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1051560" y="512064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yang paling sering salah. 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bukan badan hukum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walaupun punya akta notaris dan NPWP. 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Koperasi badan hukum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statusnya sama kuatnya dengan PT.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0058400" y="4023360"/>
            <a:ext cx="3474720" cy="3474720"/>
          </a:xfrm>
          <a:prstGeom prst="ellipse">
            <a:avLst/>
          </a:prstGeom>
          <a:solidFill>
            <a:srgbClr val="2437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21945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6060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Bentuk Badan Usaha Swasta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576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Perseorangan  ·  Firma  ·  CV  ·  PT  ·  PT Perorangan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519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setiap bentuk, pertanyaannya selalu sama: kalau rugi, siapa yang menanggung?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2 · BENTUK 1 DARI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Perusahaan Perseorangan (UD / PD)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8132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813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BADAN HUKUM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1481328"/>
            <a:ext cx="8351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undang-undang khusus — cukup izin usaha lewat NIB di sistem OSS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11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Dimiliki dan dijalankan satu orang, modal dari kantong sendiri. Warung, bengkel, toko kelontong.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5250028" cy="251460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005840" y="3063240"/>
            <a:ext cx="4518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401568"/>
            <a:ext cx="45185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murah dan paling cepat didirikan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keuntungan milik sendiri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cepat, tidak perlu rapat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usaha terjaga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01588" y="2834640"/>
            <a:ext cx="5250028" cy="251460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667348" y="3063240"/>
            <a:ext cx="4518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KEKURANGAN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667348" y="3401568"/>
            <a:ext cx="45185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Tanggung jawab tidak terbatas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terbatas kemampuan satu orang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berkembang besar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Umur usaha bergantung pemiliknya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553212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051560" y="553212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usahanya berutang dan kas usaha tidak cukup, penagih boleh masuk ke harta pribadi — motor, rumah, tabungan.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2 · BENTUK 2 DARI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Firma (Fa)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8132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813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BADAN HUKUM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1481328"/>
            <a:ext cx="8351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KUHD Pasal 16–35  ·  akta notaris, didaftarkan lewat sistem SABU (Permenkumham 17/2018)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11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orang atau lebih menjalankan usaha di bawah satu nama bersama, dan semua sekutunya aktif menjalankan usaha.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5250028" cy="251460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005840" y="3063240"/>
            <a:ext cx="4518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401568"/>
            <a:ext cx="45185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lebih besar dari perseorangan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pembagian kerja dan keahlian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dipercaya pihak ketiga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profesi: akuntan, hukum, konsultan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01588" y="2834640"/>
            <a:ext cx="5250028" cy="251460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667348" y="3063240"/>
            <a:ext cx="4518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KEKURANGAN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667348" y="3401568"/>
            <a:ext cx="45185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Tanggung renteng — kesalahan satu orang ditanggung semua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Tanggung jawab tetap tidak terbatas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Rawan konflik antar sekutu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Keluarnya satu sekutu bisa membubarkan firma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553212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051560" y="553212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Tanggung renteng: kalau rekan firma berutang atas nama firma tanpa memberi tahu kamu, penagihnya boleh datang ke rumah kamu.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2 · BENTUK 3 DARI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— Persekutuan Komanditer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8132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813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BADAN HUKUM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1481328"/>
            <a:ext cx="8351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KUHD Pasal 19–21  ·  akta notaris, didaftarkan lewat SABU  ·  paling banyak dipakai UMKM Indonesia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11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seperti firma, tapi sekutunya ada dua jenis — dan tanggung jawab keduanya berbeda.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5250028" cy="251460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005840" y="3063240"/>
            <a:ext cx="4518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401568"/>
            <a:ext cx="45185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mudah menarik pemodal daripada firma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Pendirian lebih murah dan cepat daripada PT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syarat modal minimum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tempat untuk investor yang tidak mau repot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01588" y="2834640"/>
            <a:ext cx="5250028" cy="251460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667348" y="3063240"/>
            <a:ext cx="4518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KEKURANGAN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667348" y="3401568"/>
            <a:ext cx="45185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bukan badan hukum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Sekutu aktif menanggung risiko penuh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Sekutu pasif tidak punya suara dalam pengelolaan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punya saham — sulit untuk pendanaan lanjutan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553212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051560" y="553212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Commanditaire Vennootschap. Dua jenis sekutu, dua tingkat tanggung jawab — lihat slide berikutnya.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2 · CV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jenis sekutu di CV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5250028" cy="3566160"/>
          </a:xfrm>
          <a:prstGeom prst="roundRect">
            <a:avLst>
              <a:gd name="adj" fmla="val 25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05840" y="1828800"/>
            <a:ext cx="4518508" cy="329184"/>
          </a:xfrm>
          <a:prstGeom prst="roundRect">
            <a:avLst>
              <a:gd name="adj" fmla="val 50000"/>
            </a:avLst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828800"/>
            <a:ext cx="4518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SEKUTU AKTIF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267712"/>
            <a:ext cx="45185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Komplementer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743200"/>
            <a:ext cx="4518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Perannya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980944"/>
            <a:ext cx="4518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dan mengurus usaha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474720"/>
            <a:ext cx="4518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Tanggung jawabnya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712464"/>
            <a:ext cx="4518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terbatas — sampai harta pribadi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4206240"/>
            <a:ext cx="4518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 mengurus?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4443984"/>
            <a:ext cx="4518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Ya, memang tugasnya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301588" y="1554480"/>
            <a:ext cx="5250028" cy="3566160"/>
          </a:xfrm>
          <a:prstGeom prst="roundRect">
            <a:avLst>
              <a:gd name="adj" fmla="val 25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67348" y="1828800"/>
            <a:ext cx="4518508" cy="329184"/>
          </a:xfrm>
          <a:prstGeom prst="roundRect">
            <a:avLst>
              <a:gd name="adj" fmla="val 50000"/>
            </a:avLst>
          </a:prstGeom>
          <a:solidFill>
            <a:srgbClr val="2C7A5B"/>
          </a:solidFill>
          <a:ln w="12700">
            <a:solidFill>
              <a:srgbClr val="2C7A5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67348" y="1828800"/>
            <a:ext cx="4518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SEKUTU PASIF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667348" y="2267712"/>
            <a:ext cx="45185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Komanditer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667348" y="2743200"/>
            <a:ext cx="4518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Perannya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667348" y="2980944"/>
            <a:ext cx="4518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menyetor modal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667348" y="3474720"/>
            <a:ext cx="4518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Tanggung jawabnya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667348" y="3712464"/>
            <a:ext cx="4518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Terbatas sebesar modal yang disetor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667348" y="4206240"/>
            <a:ext cx="4518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 mengurus?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667348" y="4443984"/>
            <a:ext cx="4518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boleh sama sekali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534924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7E9E6"/>
          </a:solidFill>
          <a:ln w="12700">
            <a:solidFill>
              <a:srgbClr val="F7E9E6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1051560" y="534924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penting.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sekutu pasif ikut campur mengurus usaha, perlindungannya hilang — tanggung jawabnya langsung berubah jadi tidak terbatas, seperti sekutu aktif.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2 · BENTUK 4 DARI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Perseroan Terbatas (PT)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8132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C7A5B"/>
          </a:solidFill>
          <a:ln w="12700">
            <a:solidFill>
              <a:srgbClr val="2C7A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813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 HUKUM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1481328"/>
            <a:ext cx="8351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 No. 40 Tahun 2007, diubah oleh UU Cipta Kerja (UU No. 6 Tahun 2023)  ·  minimal 2 pendiri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11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 hukum persekutuan modal. Modalnya terbagi atas saham, dan pemegang saham hanya bertanggung jawab sebesar sahamnya.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5250028" cy="251460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005840" y="3063240"/>
            <a:ext cx="4518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401568"/>
            <a:ext cx="45185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Tanggung jawab terbatas — harta pribadi aman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mudah menarik modal besar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Umur perusahaan tidak bergantung pemiliknya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Kepemilikan mudah dipindah lewat jual saham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01588" y="2834640"/>
            <a:ext cx="5250028" cy="251460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667348" y="3063240"/>
            <a:ext cx="4518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KEKURANGAN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667348" y="3401568"/>
            <a:ext cx="45185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Pendirian paling mahal dan rumit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Kewajiban administrasi dan pelaporan banyak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Pajak berlapis: PT kena pajak, dividen kena pajak lagi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perusahaan lebih terbuka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553212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051560" y="553212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"terbatas" itu bukan hiasan. PT bangkrut berutang Rp10 miliar dan sahammu Rp50 juta? Rugimu Rp50 juta. Rumahmu tidak bisa disentuh.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2 · 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organ Perseroan Terbatas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3393338" cy="3794760"/>
          </a:xfrm>
          <a:prstGeom prst="roundRect">
            <a:avLst>
              <a:gd name="adj" fmla="val 269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05840" y="2103120"/>
            <a:ext cx="457200" cy="45720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7432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200400"/>
            <a:ext cx="2661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Rapat Umum Pemegang Saham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566160"/>
            <a:ext cx="26618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Kekuasaan tertinggi di PT. Mengangkat dan memberhentikan direksi serta dewan komisaris.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99178" y="1783080"/>
            <a:ext cx="3393338" cy="3794760"/>
          </a:xfrm>
          <a:prstGeom prst="roundRect">
            <a:avLst>
              <a:gd name="adj" fmla="val 269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64938" y="2103120"/>
            <a:ext cx="457200" cy="45720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6493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764938" y="27432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Direksi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764938" y="3200400"/>
            <a:ext cx="2661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Pengurus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764938" y="3566160"/>
            <a:ext cx="26618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perusahaan sehari-hari dan mewakili PT dalam hubungan dengan pihak luar.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158277" y="1783080"/>
            <a:ext cx="3393338" cy="3794760"/>
          </a:xfrm>
          <a:prstGeom prst="roundRect">
            <a:avLst>
              <a:gd name="adj" fmla="val 269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24037" y="2103120"/>
            <a:ext cx="457200" cy="45720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24037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524037" y="27432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Dewan Komisaris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8524037" y="3200400"/>
            <a:ext cx="2661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Pengawas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24037" y="3566160"/>
            <a:ext cx="26618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Mengawasi kebijakan dan jalannya pengurusan oleh direksi, serta memberi nasihat.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PT:  PT Tertutup (saham tidak dijual ke publik)  ·  PT Terbuka / Tbk (saham dijual di bursa)  ·  PT Persero (saham dimiliki negara)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2 · KOREKSI BUKU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berubah: modal dasar PT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181448" cy="2651760"/>
          </a:xfrm>
          <a:prstGeom prst="roundRect">
            <a:avLst>
              <a:gd name="adj" fmla="val 34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005840" y="205740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DULU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450592"/>
            <a:ext cx="444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trike="sngStrike" dirty="0">
                <a:solidFill>
                  <a:srgbClr val="5A6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Rp50 juta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383280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dasar minimum menurut UU PT No. 40 Tahun 2007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70168" y="1783080"/>
            <a:ext cx="5181448" cy="2651760"/>
          </a:xfrm>
          <a:prstGeom prst="roundRect">
            <a:avLst>
              <a:gd name="adj" fmla="val 3448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35928" y="205740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SEKARANG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735928" y="2395728"/>
            <a:ext cx="4449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Tidak ada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735928" y="3429000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Ditentukan kesepakatan para pendiri (UU Cipta Kerja · PP No. 8 Tahun 2021)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480060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051560" y="4800600"/>
            <a:ext cx="10088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tetap berlaku: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25% dari modal dasar harus ditempatkan dan disetor penuh, dibuktikan dengan bukti penyetoran yang sah.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kelas menemukan angka Rp50 juta di buku terbitan sebelum 2021 — itu sudah tidak berlaku.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2 · BENTUK 5 DARI 5 · YANG PALING BARU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Perseroan Perorangan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8132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C7A5B"/>
          </a:solidFill>
          <a:ln w="12700">
            <a:solidFill>
              <a:srgbClr val="2C7A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813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 HUKUM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1481328"/>
            <a:ext cx="8351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Lahir dari UU Cipta Kerja  ·  diatur PP No. 8 Tahun 2021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0911535" cy="91440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51560" y="201168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orang saja — tapi tetap badan hukum, jadi tanggung jawabnya terbatas.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07008" y="3127248"/>
            <a:ext cx="57617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Syarat pendiri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07008" y="3438144"/>
            <a:ext cx="5761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 · minimal 17 tahun · cakap hukum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959352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07008" y="3931920"/>
            <a:ext cx="57617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mendirikan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207008" y="4242816"/>
            <a:ext cx="5761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mengisi Surat Pernyataan Pendirian secara elektronik — tidak perlu akta notaris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4764024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207008" y="4736592"/>
            <a:ext cx="57617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Syarat usaha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207008" y="5047488"/>
            <a:ext cx="5761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kriteria Usaha Mikro dan Kecil · wajib lapor keuangan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405232" y="3108960"/>
            <a:ext cx="4146383" cy="2331720"/>
          </a:xfrm>
          <a:prstGeom prst="roundRect">
            <a:avLst>
              <a:gd name="adj" fmla="val 392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725272" y="3291840"/>
            <a:ext cx="35063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UMK (PP 7/2021)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725272" y="3675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725272" y="3950208"/>
            <a:ext cx="35063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≤ Rp1 M   atau   omzet ≤ Rp2 M / tahun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725272" y="44256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Kecil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725272" y="4700016"/>
            <a:ext cx="35063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Rp1–5 M   atau   omzet Rp2–15 M / tahun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7725272" y="5029200"/>
            <a:ext cx="35063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luar tanah dan bangunan tempat usaha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0080" y="562356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E9F2ED"/>
          </a:solidFill>
          <a:ln w="12700">
            <a:solidFill>
              <a:srgbClr val="E9F2ED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1051560" y="562356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Artinya buat kalian: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nanti mau buka usaha sendiri, sekarang bisa langsung punya badan hukum tanpa partner dan tanpa notaris.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2437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1600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30 DETIK DENGAN SEBELAHMU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94560"/>
            <a:ext cx="1045433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Kalau PT jelas lebih aman —</a:t>
            </a:r>
            <a:endParaRPr lang="en-US" sz="3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harta pribadi terlindungi —</a:t>
            </a:r>
            <a:endParaRPr lang="en-US" sz="3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masih banyak orang bikin CV?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mikir sendiri — ngomong ke orang di sebelahmu.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2437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21945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606040"/>
            <a:ext cx="9326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Koperasi, BUMN, BUMD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Yayasan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519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bentuk tadi punya satu kesamaan: yang punya modal terbesar paling berkuasa.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Koperasi dirancang persis sebaliknya.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3 · KOPERASI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Koperasi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8132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C7A5B"/>
          </a:solidFill>
          <a:ln w="12700">
            <a:solidFill>
              <a:srgbClr val="2C7A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813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 HUKUM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1481328"/>
            <a:ext cx="8351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 No. 25 Tahun 1992, diubah oleh UU Cipta Kerja dan UU No. 4 Tahun 2023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0911535" cy="100584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51560" y="2011680"/>
            <a:ext cx="100885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“Perekonomian disusun sebagai usaha bersama berdasar atas asas kekeluargaan.”   —  Pasal 33 ayat (1) UUD 1945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5227168" cy="1417320"/>
          </a:xfrm>
          <a:prstGeom prst="roundRect">
            <a:avLst>
              <a:gd name="adj" fmla="val 64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005840" y="3474720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DULU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749040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trike="sngStrike" dirty="0">
                <a:solidFill>
                  <a:srgbClr val="5A6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orang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4279392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pendiri koperasi primer (UU 25/1992)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24448" y="3291840"/>
            <a:ext cx="5227168" cy="1417320"/>
          </a:xfrm>
          <a:prstGeom prst="roundRect">
            <a:avLst>
              <a:gd name="adj" fmla="val 6452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690208" y="3474720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SEKARANG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690208" y="3749040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orang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6690208" y="4279392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pendiri koperasi primer, diturunkan oleh UU Cipta Kerja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Koperasi sekunder didirikan oleh minimal 3 koperasi.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RUU Perkoperasian yang baru masih dibahas DPR sampai 2026 dan belum berlaku — yang dipakai tetap UU 25/1992 beserta perubahannya.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3 · KOPERASI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Koperasi dibanding PT</a:t>
            </a:r>
            <a:endParaRPr lang="en-US" sz="3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84168"/>
                <a:gridCol w="4084168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KOPERASI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5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Siapa pemiliknya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Pemegang saham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Anggota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Siapa penggunanya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Konsumen — orang lain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Anggota sendiri — pemilik = pengguna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 voting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saham 1 suara — modal besar, suara besar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anggota 1 suara — berapa pun simpanannya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Pembagian hasil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Dividen, sesuai besar saham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SHU, sesuai jasa / transaksi anggota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Tujuan utama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Laba maksimal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Kesejahteraan anggota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562356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E9F2ED"/>
          </a:solidFill>
          <a:ln w="12700">
            <a:solidFill>
              <a:srgbClr val="E9F2ED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1051560" y="562356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koperasi, yang paling banyak berbelanja di koperasi itu yang paling banyak dapat SHU — bukan yang paling banyak modal.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3 · KOPERASI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Perangkat dan modal koperasi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91640"/>
            <a:ext cx="6001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ORGANISASI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6001344" cy="731520"/>
          </a:xfrm>
          <a:prstGeom prst="roundRect">
            <a:avLst>
              <a:gd name="adj" fmla="val 1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276856"/>
            <a:ext cx="384048" cy="384048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194560"/>
            <a:ext cx="490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Rapat Anggota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487168"/>
            <a:ext cx="490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Kekuasaan tertinggi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971800"/>
            <a:ext cx="6001344" cy="731520"/>
          </a:xfrm>
          <a:prstGeom prst="roundRect">
            <a:avLst>
              <a:gd name="adj" fmla="val 1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145536"/>
            <a:ext cx="384048" cy="384048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3063240"/>
            <a:ext cx="490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Pengurus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355848"/>
            <a:ext cx="490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koperasi sehari-hari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840480"/>
            <a:ext cx="6001344" cy="731520"/>
          </a:xfrm>
          <a:prstGeom prst="roundRect">
            <a:avLst>
              <a:gd name="adj" fmla="val 1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14400" y="4014216"/>
            <a:ext cx="384048" cy="384048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3931920"/>
            <a:ext cx="490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Pengawas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4224528"/>
            <a:ext cx="490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Mengawasi kerja pengurus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077886" y="1691640"/>
            <a:ext cx="44737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KOPERASI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077886" y="2103120"/>
            <a:ext cx="4473729" cy="2468880"/>
          </a:xfrm>
          <a:prstGeom prst="roundRect">
            <a:avLst>
              <a:gd name="adj" fmla="val 37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443646" y="2377440"/>
            <a:ext cx="374220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Simpanan pokok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dibayar sekali saat masuk, besarnya sama untuk semua anggota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Simpanan wajib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dibayar rutin selama jadi anggota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Simpanan sukarela · dana cadangan · hibah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40080" y="5166360"/>
            <a:ext cx="10911535" cy="1188720"/>
          </a:xfrm>
          <a:prstGeom prst="roundRect">
            <a:avLst>
              <a:gd name="adj" fmla="val 7692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1051560" y="534924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yang paling dekat: Kopma UKSW.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1051560" y="5779008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Anggotanya mahasiswa. Yang belanja di situ mahasiswa juga. Dan SHU-nya kembali ke mahasiswa.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47091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koperasi: konsumen · produsen · jasa · simpan pinjam · pemasaran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3 · BUMN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BUMN — Persero dan Perum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 usaha yang seluruh atau sebagian besar modalnya dimiliki negara.  ·  UU No. 19 Tahun 2003, diubah terakhir oleh UU No. 1 Tahun 2025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250028" cy="3611880"/>
          </a:xfrm>
          <a:prstGeom prst="roundRect">
            <a:avLst>
              <a:gd name="adj" fmla="val 253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2212848"/>
            <a:ext cx="4518508" cy="329184"/>
          </a:xfrm>
          <a:prstGeom prst="roundRect">
            <a:avLst>
              <a:gd name="adj" fmla="val 50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2212848"/>
            <a:ext cx="4518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PERSERO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724912"/>
            <a:ext cx="4518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hukumnya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944368"/>
            <a:ext cx="45185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Berbentuk PT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438144"/>
            <a:ext cx="4518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Modalnya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657600"/>
            <a:ext cx="45185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Terbagi atas saham, minimal 51% milik negara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4151376"/>
            <a:ext cx="4518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utamanya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4370832"/>
            <a:ext cx="45185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Mengejar keuntungan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4864608"/>
            <a:ext cx="4518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5084064"/>
            <a:ext cx="45185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Telkom Indonesia (Persero) Tbk, PT BRI (Persero) Tbk, PT KAI (Persero)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1588" y="1965960"/>
            <a:ext cx="5250028" cy="3611880"/>
          </a:xfrm>
          <a:prstGeom prst="roundRect">
            <a:avLst>
              <a:gd name="adj" fmla="val 253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67348" y="2212848"/>
            <a:ext cx="4518508" cy="329184"/>
          </a:xfrm>
          <a:prstGeom prst="roundRect">
            <a:avLst>
              <a:gd name="adj" fmla="val 50000"/>
            </a:avLst>
          </a:prstGeom>
          <a:solidFill>
            <a:srgbClr val="2C7A5B"/>
          </a:solidFill>
          <a:ln w="12700">
            <a:solidFill>
              <a:srgbClr val="2C7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67348" y="2212848"/>
            <a:ext cx="4518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PERUM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667348" y="2724912"/>
            <a:ext cx="4518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hukumnya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667348" y="2944368"/>
            <a:ext cx="45185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PT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667348" y="3438144"/>
            <a:ext cx="4518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Modalnya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667348" y="3657600"/>
            <a:ext cx="45185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Seluruhnya milik negara, tidak terbagi atas saham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667348" y="4151376"/>
            <a:ext cx="4518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utamanya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667348" y="4370832"/>
            <a:ext cx="45185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Kemanfaatan umum, sekaligus mengejar keuntungan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667348" y="4864608"/>
            <a:ext cx="4518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667348" y="5084064"/>
            <a:ext cx="45185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Perum BULOG, Perum Peruri, Perum DAMRI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5760720"/>
            <a:ext cx="10911535" cy="731520"/>
          </a:xfrm>
          <a:prstGeom prst="roundRect">
            <a:avLst>
              <a:gd name="adj" fmla="val 12500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1051560" y="576072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ingat: kalau namanya diawali "PT" dan ada "(Persero)", itu mencari untung. Kalau diawali "Perum", itu melayani publik.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3 · BUMN · PEMBARUAN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berubah di BUMN tahun 2025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10911535" cy="105156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051560" y="164592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UU No. 1 Tahun 2025 — Perubahan Ketiga atas UU No. 19 Tahun 2003 tentang BUMN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2953512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07008" y="2926080"/>
            <a:ext cx="10344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Membentuk BPI Danantara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07008" y="3236976"/>
            <a:ext cx="10344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 Pengelola Investasi Daya Anagata Nusantara — badan hukum Indonesia yang sepenuhnya dimiliki Pemerintah.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07008" y="3767328"/>
            <a:ext cx="10344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Tugasnya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07008" y="4078224"/>
            <a:ext cx="10344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dan mengoptimalkan investasi serta operasional BUMN dan sumber dana lain.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636008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07008" y="4608576"/>
            <a:ext cx="10344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Kewenangannya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207008" y="4919472"/>
            <a:ext cx="10344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 mendelegasikan sebagian kewenangan pengelolaan BUMN kepada Danantara (Pasal 3E).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5477256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07008" y="5449824"/>
            <a:ext cx="10344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 diatur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207008" y="5760720"/>
            <a:ext cx="10344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investasi, holding operasional, restrukturisasi, dan pendirian anak perusahaan BUMN.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Ditandatangani 24 Februari 2025. Kalau buku pengantar bisnis terbitan lama menjelaskan struktur pengelolaan BUMN, bagian itu sudah berubah.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3 · BUMD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BUMD — Perumda dan Perseroda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Polanya persis sama dengan BUMN, hanya pemiliknya pemerintah daerah.  ·  UU No. 23 Tahun 2014 dan PP No. 54 Tahun 2017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250028" cy="365760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2212848"/>
            <a:ext cx="4518508" cy="329184"/>
          </a:xfrm>
          <a:prstGeom prst="roundRect">
            <a:avLst>
              <a:gd name="adj" fmla="val 50000"/>
            </a:avLst>
          </a:prstGeom>
          <a:solidFill>
            <a:srgbClr val="2C7A5B"/>
          </a:solidFill>
          <a:ln w="12700">
            <a:solidFill>
              <a:srgbClr val="2C7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2212848"/>
            <a:ext cx="4518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PERUMDA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670048"/>
            <a:ext cx="4518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 Umum Daerah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926080"/>
            <a:ext cx="4518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sejajar dengan Perum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364992"/>
            <a:ext cx="4518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Modalnya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584448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Seluruhnya milik satu daerah, tidak terbagi atas saham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4096512"/>
            <a:ext cx="4518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Bentuknya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4315968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PT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4828032"/>
            <a:ext cx="4518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5047488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Perumda Air Minum — yang dulu kita kenal sebagai PDAM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301588" y="1965960"/>
            <a:ext cx="5250028" cy="365760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67348" y="2212848"/>
            <a:ext cx="4518508" cy="329184"/>
          </a:xfrm>
          <a:prstGeom prst="roundRect">
            <a:avLst>
              <a:gd name="adj" fmla="val 50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67348" y="2212848"/>
            <a:ext cx="4518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PERSERODA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667348" y="2670048"/>
            <a:ext cx="4518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 Perseroan Daerah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667348" y="2926080"/>
            <a:ext cx="4518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sejajar dengan Persero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667348" y="3364992"/>
            <a:ext cx="4518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Modalnya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667348" y="3584448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Terbagi atas saham, minimal 51% milik daerah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6667348" y="4096512"/>
            <a:ext cx="4518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Bentuknya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667348" y="4315968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Berbentuk PT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6667348" y="4828032"/>
            <a:ext cx="4518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667348" y="5047488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Jateng, Bank DKI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3 · PELENGKAP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Yayasan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8132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C7A5B"/>
          </a:solidFill>
          <a:ln w="12700">
            <a:solidFill>
              <a:srgbClr val="2C7A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813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 HUKUM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1481328"/>
            <a:ext cx="8351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 No. 16 Tahun 2001 jo. UU No. 28 Tahun 2004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0911535" cy="105156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51560" y="201168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Kekayaan yang dipisahkan untuk tujuan sosial, keagamaan, dan kemanusiaan — bukan untuk mencari laba yang dibagi.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40080" y="3319272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07008" y="3291840"/>
            <a:ext cx="10344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punya anggota dan tidak punya pemegang saham</a:t>
            </a:r>
            <a:endParaRPr lang="en-US" sz="1650" dirty="0"/>
          </a:p>
        </p:txBody>
      </p:sp>
      <p:sp>
        <p:nvSpPr>
          <p:cNvPr id="13" name="Text 10"/>
          <p:cNvSpPr txBox="1"/>
          <p:nvPr/>
        </p:nvSpPr>
        <p:spPr>
          <a:xfrm>
            <a:off x="1207008" y="3602736"/>
            <a:ext cx="1034460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Organnya: Pembina, Pengurus, dan Pengawas.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4233672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07008" y="4206240"/>
            <a:ext cx="10344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 punya badan usaha</a:t>
            </a:r>
            <a:endParaRPr lang="en-US" sz="1650" dirty="0"/>
          </a:p>
        </p:txBody>
      </p:sp>
      <p:sp>
        <p:nvSpPr>
          <p:cNvPr id="17" name="Text 14"/>
          <p:cNvSpPr txBox="1"/>
          <p:nvPr/>
        </p:nvSpPr>
        <p:spPr>
          <a:xfrm>
            <a:off x="1207008" y="4517136"/>
            <a:ext cx="1034460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Tapi hasilnya harus kembali untuk tujuan yayasan — tidak boleh dibagi ke pengurus.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5148072"/>
            <a:ext cx="365760" cy="36576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207008" y="5120640"/>
            <a:ext cx="10344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paling dekat</a:t>
            </a:r>
            <a:endParaRPr lang="en-US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1207008" y="5431536"/>
            <a:ext cx="1034460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Yayasan yang menaungi sekolah, universitas, dan rumah sakit.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Rangkuman: enam bentuk berdampingan</a:t>
            </a:r>
            <a:endParaRPr lang="en-US" sz="3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1153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536192"/>
                <a:gridCol w="1536192"/>
                <a:gridCol w="1847088"/>
                <a:gridCol w="1417320"/>
                <a:gridCol w="1481328"/>
                <a:gridCol w="1399032"/>
              </a:tblGrid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Perseorangan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40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40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40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Perorangan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Koperasi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5B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Badan hukum?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pendiri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 (primer)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Tanggung jawab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terbatas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terbatas, tanggung renteng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Aktif: tidak terbatas · Pasif: sebatas modal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Terbatas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Terbatas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Terbatas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minimum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Sesuai kesepakatan pendiri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Sesuai kesepakatan pendiri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Simpanan pokok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Akta notaris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wajib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Wajib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Wajib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Wajib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wajib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Wajib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Dasar hukum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Izin usaha (NIB/OSS)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KUHD Ps. 16–35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KUHD Ps. 19–21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 40/2007 jo. UU 6/2023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 8/2021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 25/1992 dst.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562356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A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1051560" y="562356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penentu di setiap kolom selalu sama: siapa yang menanggung kalau rugi, dan siapa yang menikmati kalau untung.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0424160" y="4937760"/>
            <a:ext cx="3108960" cy="3108960"/>
          </a:xfrm>
          <a:prstGeom prst="ellipse">
            <a:avLst/>
          </a:prstGeom>
          <a:solidFill>
            <a:srgbClr val="2437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7772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CUMA BAWA PULANG TIGA HAL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709928"/>
            <a:ext cx="548640" cy="54864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709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00200"/>
            <a:ext cx="97228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Badan usaha itu “siapa”-nya.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Perusahaan itu “di mana dan pakai apa”-nya.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3172968"/>
            <a:ext cx="548640" cy="54864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3063240"/>
            <a:ext cx="97228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paling menentukan itu badan hukum atau bukan —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karena itu yang menentukan harta pribadimu ikut kena atau tidak.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40080" y="4636008"/>
            <a:ext cx="548640" cy="54864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636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4526280"/>
            <a:ext cx="97228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Tidak ada bentuk yang paling bagus.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ada bentuk yang paling cocok dengan risiko dan ukuran usahamu.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2437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1371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KALIMAT SEBELUM BUBAR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965960"/>
            <a:ext cx="103628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“Kalau saya buka usaha sendiri</a:t>
            </a:r>
            <a:endParaRPr lang="en-US" sz="3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tahun depan, saya akan pilih</a:t>
            </a:r>
            <a:endParaRPr lang="en-US" sz="3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________ karena ________.”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0292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kasih.  Kami bertiga masih di sini kalau ada yang mau ditanyakan.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Pengertian dan Bentuk-Bentuk Badan Usaha di Indonesia</dc:title>
  <dc:subject>PptxGenJS Presentation</dc:subject>
  <dc:creator>Kelompok Pengantar Manajemen dan Bisnis</dc:creator>
  <cp:lastModifiedBy>Kelompok Pengantar Manajemen dan Bisnis</cp:lastModifiedBy>
  <cp:revision>1</cp:revision>
  <dcterms:created xsi:type="dcterms:W3CDTF">2026-09-08T07:34:22Z</dcterms:created>
  <dcterms:modified xsi:type="dcterms:W3CDTF">2026-09-08T07:34:22Z</dcterms:modified>
</cp:coreProperties>
</file>